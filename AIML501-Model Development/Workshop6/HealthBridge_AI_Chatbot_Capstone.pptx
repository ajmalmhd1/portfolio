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Wait (min)</c:v>
                </c:pt>
              </c:strCache>
            </c:strRef>
          </c:tx>
          <c:spPr>
            <a:solidFill>
              <a:srgbClr val="C99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9</c:v>
                </c:pt>
                <c:pt idx="2">
                  <c:v>11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Clara</c:v>
                </c:pt>
              </c:strCache>
            </c:strRef>
          </c:tx>
          <c:spPr>
            <a:solidFill>
              <a:srgbClr val="6B2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13400</c:v>
                </c:pt>
                <c:pt idx="2">
                  <c:v>12800</c:v>
                </c:pt>
                <c:pt idx="3">
                  <c:v>14000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Clara</c:v>
                </c:pt>
              </c:strCache>
            </c:strRef>
          </c:tx>
          <c:spPr>
            <a:solidFill>
              <a:srgbClr val="8B3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5000</c:v>
                </c:pt>
                <c:pt idx="1">
                  <c:v>5200</c:v>
                </c:pt>
                <c:pt idx="2">
                  <c:v>5100</c:v>
                </c:pt>
                <c:pt idx="3">
                  <c:v>4800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E4470"/>
          </a:solidFill>
          <a:ln w="12700">
            <a:solidFill>
              <a:srgbClr val="2E44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45720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45552" y="45720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01584" y="45720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57616" y="45720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96012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45552" y="96012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01584" y="96012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57616" y="96012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46304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146304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146304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96596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196596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196596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196596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246888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45552" y="246888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1584" y="246888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57616" y="2468880"/>
            <a:ext cx="73152" cy="73152"/>
          </a:xfrm>
          <a:prstGeom prst="ellipse">
            <a:avLst/>
          </a:prstGeom>
          <a:solidFill>
            <a:srgbClr val="8B3A70">
              <a:alpha val="40000"/>
            </a:srgbClr>
          </a:solidFill>
          <a:ln w="12700">
            <a:solidFill>
              <a:srgbClr val="8B3A7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40"/>
                </a:solidFill>
              </a:rPr>
              <a:t>HEALTHBRIDGE MEDICAL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10515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HealthBridge AI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57200" y="2057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Chatbot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5029200" cy="4572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Generative AI Solution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D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Generative AI with RAG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Confidential  |  Generative AI Capstone  |  2026</a:t>
            </a:r>
            <a:endParaRPr lang="en-US" sz="10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01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REAL-WORLD GENERATIVE AI USE 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200400" cy="438912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60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Company: HealthBridge Medical Group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40"/>
                </a:solidFill>
              </a:rPr>
              <a:t>HealthBridge AI — "Clara"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C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patient-support chatbot integrated into HealthBridge's patient portal and mobile app. Clara leverages Retrieval-Augmented Generation (RAG) to provide patients with accurate, real-time answers about their care, medications, appointments, and health policies.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36118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3611880"/>
            <a:ext cx="73152" cy="475488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3611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Appointment &amp; scheduling queries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0" y="36118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3611880"/>
            <a:ext cx="73152" cy="475488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3611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Medication info &amp; reminders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20624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4206240"/>
            <a:ext cx="73152" cy="475488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4206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Post-visit care instructions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08960" y="420624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4206240"/>
            <a:ext cx="73152" cy="475488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4206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Insurance &amp; billing FAQs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52160" y="914400"/>
            <a:ext cx="3108960" cy="4023360"/>
          </a:xfrm>
          <a:prstGeom prst="rect">
            <a:avLst/>
          </a:prstGeom>
          <a:solidFill>
            <a:srgbClr val="1C3348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914400"/>
            <a:ext cx="3108960" cy="45720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Clara — Patient Chatbot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13350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B3D3"/>
                </a:solidFill>
              </a:rPr>
              <a:t>You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9320" y="1508760"/>
            <a:ext cx="2103120" cy="56692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50876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When is my next appointment?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20939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A0A8"/>
                </a:solidFill>
              </a:rPr>
              <a:t>Clara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66560" y="2267712"/>
            <a:ext cx="2103120" cy="566928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26771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Your next visit: Tuesday Apr 15 at 2PM, Dr. Nguyen.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2852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B3D3"/>
                </a:solidFill>
              </a:rPr>
              <a:t>You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3026664"/>
            <a:ext cx="2103120" cy="56692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0266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Can I reschedule?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36118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0A0A8"/>
                </a:solidFill>
              </a:rPr>
              <a:t>Clara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66560" y="3785616"/>
            <a:ext cx="2103120" cy="566928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8561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Of course! I can help you find an open slot.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HealthBridge AI  |  Capstone 2026</a:t>
            </a:r>
            <a:endParaRPr lang="en-US" sz="9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280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BUSINESS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</a:rPr>
              <a:t>HealthBridge Medical faces a critical patient engagement crisis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011680" cy="146304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01168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2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of patients report difficulty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reaching support staff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2011680" cy="146304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417320"/>
            <a:ext cx="201168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5361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2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min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06040" y="21762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average hold time for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non-urgent inquiries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417320"/>
            <a:ext cx="2011680" cy="146304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417320"/>
            <a:ext cx="201168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361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2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00600" y="21762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of appointments missed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due to communication gaps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2011680" cy="146304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417320"/>
            <a:ext cx="2011680" cy="7315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5361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2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$2.4M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95160" y="21762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annual cost of inbound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A8D"/>
                </a:solidFill>
              </a:rPr>
              <a:t>patient support calls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Key Pain Points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74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No 24/7 self-service option for patients with non-urgent questions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13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Staff overwhelmed with repetitive inquiries — medication instructions, billing, hours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4197096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513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Post-discharge care instructions hard to access, increasing readmissions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535424"/>
            <a:ext cx="164592" cy="16459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897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Patient satisfaction scores (HCAHPS) declining year-over-year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2971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</a:rPr>
              <a:t>Patient Wait Time (min)</a:t>
            </a:r>
            <a:endParaRPr lang="en-US" sz="12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846320" y="3337560"/>
          <a:ext cx="39319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HealthBridge AI  |  Capstone 2026</a:t>
            </a:r>
            <a:endParaRPr lang="en-US" sz="9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48280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AI SOLUTION — RAG-BASED CHATBOT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40"/>
                </a:solidFill>
              </a:rPr>
              <a:t>How Clara Uses RAG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011680" cy="164592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Patient Query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30428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Patient types a question in the portal or 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148840"/>
            <a:ext cx="201168" cy="10972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444752"/>
            <a:ext cx="2011680" cy="164592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78608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Retrieval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96896" y="230428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RAG searches EHR data, policy docs &amp; web APIs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98848" y="2148840"/>
            <a:ext cx="201168" cy="10972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1444752"/>
            <a:ext cx="2011680" cy="1645920"/>
          </a:xfrm>
          <a:prstGeom prst="rect">
            <a:avLst/>
          </a:prstGeom>
          <a:solidFill>
            <a:srgbClr val="2E4470"/>
          </a:solidFill>
          <a:ln w="12700">
            <a:solidFill>
              <a:srgbClr val="2E44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91456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9744" y="230428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Retrieved context is injected into the LLM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11696" y="2148840"/>
            <a:ext cx="201168" cy="10972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12864" y="1444752"/>
            <a:ext cx="2011680" cy="164592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12864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04304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22592" y="230428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Claude/GPT generates a grounded, accurate answer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Key Technical Features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03320"/>
            <a:ext cx="73152" cy="45720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703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030"/>
                </a:solidFill>
              </a:rPr>
              <a:t>External data retrieval  —  EHR records, policy PDFs, live web search via 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03320"/>
            <a:ext cx="73152" cy="45720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703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030"/>
                </a:solidFill>
              </a:rPr>
              <a:t>Semantic vector search  —  Pinecone vector DB for fast, relevant retrieval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25196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251960"/>
            <a:ext cx="73152" cy="45720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030"/>
                </a:solidFill>
              </a:rPr>
              <a:t>Context-aware responses  —  Conversation history maintained per session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25196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4251960"/>
            <a:ext cx="73152" cy="45720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030"/>
                </a:solidFill>
              </a:rPr>
              <a:t>HIPAA-compliant pipeline  —  PHI encrypted, audit logging, role-based access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HealthBridge AI  |  Capstone 2026</a:t>
            </a:r>
            <a:endParaRPr lang="en-US" sz="9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280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PRODUCT INTEGRATION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</a:rPr>
              <a:t>Where Clara Lives in the HealthBridge Ecosystem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60520" cy="137160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160520" cy="384048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Patient Portal (Web)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030"/>
                </a:solidFill>
              </a:rPr>
              <a:t>Embedded chat widget on MyHealthBridge.com — accessible post-login with full EHR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6592" y="1417320"/>
            <a:ext cx="4160520" cy="137160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417320"/>
            <a:ext cx="4160520" cy="384048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 App (iOS/Android)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8745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030"/>
                </a:solidFill>
              </a:rPr>
              <a:t>Native SDK integration in HealthBridge mobile app. Push notifications + in-app chat.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37160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384048"/>
          </a:xfrm>
          <a:prstGeom prst="rect">
            <a:avLst/>
          </a:prstGeom>
          <a:solidFill>
            <a:srgbClr val="2E4470"/>
          </a:solidFill>
          <a:ln w="12700">
            <a:solidFill>
              <a:srgbClr val="2E44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After-Visit Summary Emails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030"/>
                </a:solidFill>
              </a:rPr>
              <a:t>Clara generates and personalizes post-visit instructions triggered by EHR discharge events.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2971800"/>
            <a:ext cx="4160520" cy="137160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2971800"/>
            <a:ext cx="4160520" cy="38404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Nurse Triage Handoff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4290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030"/>
                </a:solidFill>
              </a:rPr>
              <a:t>Escalation path: Clara flags urgent queries to on-call nursing staff via secure message.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5E0"/>
                </a:solidFill>
              </a:rPr>
              <a:t>Tech Stack:  React / React Native  |  FastAPI Backend  |  Pinecone Vector DB  |  OpenAI / Anthropic LLM  |  AWS HIPAA-Eligible Services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HealthBridge AI  |  Capstone 2026</a:t>
            </a:r>
            <a:endParaRPr lang="en-US" sz="9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280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VALUE ADD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</a:rPr>
              <a:t>Measurable Impact of Clara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1993392" cy="64008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2D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Reduction 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call center volume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38988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389888"/>
            <a:ext cx="1993392" cy="64008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4630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3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42032" y="21031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Patient support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availability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38988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389888"/>
            <a:ext cx="1993392" cy="64008"/>
          </a:xfrm>
          <a:prstGeom prst="rect">
            <a:avLst/>
          </a:prstGeom>
          <a:solidFill>
            <a:srgbClr val="2E4470"/>
          </a:solidFill>
          <a:ln w="12700">
            <a:solidFill>
              <a:srgbClr val="2E44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4630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4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4.5★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18304" y="21031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Projected HCAHPS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satisfaction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389888"/>
            <a:ext cx="199339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389888"/>
            <a:ext cx="1993392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46304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7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$1.4M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94576" y="21031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Estimated annual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A8D"/>
                </a:solidFill>
              </a:rPr>
              <a:t>cost savings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Strategic Benefits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410712"/>
            <a:ext cx="182880" cy="18288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Eliminates repetitive staff workload — freeing nurses for clinical tasks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182880" cy="1828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21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Improves care continuity with 24/7 post-discharge instruction access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4087368"/>
            <a:ext cx="182880" cy="18288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599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Reduces preventable readmissions through medication compliance support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425696"/>
            <a:ext cx="182880" cy="1828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398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030"/>
                </a:solidFill>
              </a:rPr>
              <a:t>Scales to 10,000+ concurrent patient interactions at marginal cost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40"/>
                </a:solidFill>
              </a:rPr>
              <a:t>Projected Call Volume Reduction</a:t>
            </a:r>
            <a:endParaRPr lang="en-US" sz="12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754880" y="3291840"/>
          <a:ext cx="41148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HealthBridge AI  |  Capstone 2026</a:t>
            </a:r>
            <a:endParaRPr lang="en-US" sz="9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48280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DATA DETAILS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402336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Sources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D5E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Epic EHR API — patient records, appointments, meds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46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D5E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Internal policy PDFs — clinical guidelines, billing FAQs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D5E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MedlinePlus &amp; FDA APIs — drug info, contraindications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68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D5E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Real-time web search — health policy updates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173736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206240" cy="402336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6012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356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3A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EHR data: FHIR R4 structured, high reliability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746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3A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Policy docs: reviewed quarterly by compliance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3A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External APIs: reputable gov/medical sources only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368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3A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Web search: filtered by domain whitelist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206240" cy="173736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4206240" cy="402336"/>
          </a:xfrm>
          <a:prstGeom prst="rect">
            <a:avLst/>
          </a:prstGeom>
          <a:solidFill>
            <a:srgbClr val="2E4470"/>
          </a:solidFill>
          <a:ln w="12700">
            <a:solidFill>
              <a:srgbClr val="2E44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346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310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4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Text extraction from PDF/DOCX documents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621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4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PHI anonymization for non-personalized queries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4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Chunking (512 tokens) + overlap for vector embedding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47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Metadata tagging: source, date, sensitivity level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4206240" cy="1737360"/>
          </a:xfrm>
          <a:prstGeom prst="rect">
            <a:avLst/>
          </a:prstGeom>
          <a:solidFill>
            <a:srgbClr val="F5F0F7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834640"/>
            <a:ext cx="4206240" cy="402336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83464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Storage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310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Vector embeddings → Pinecone (AWS us-east-1, HIPAA)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621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Patient session context → Redis (encrypted, TTL 30 min)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Source documents → AWS S3 with server-side encryption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2428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C2030"/>
                </a:solidFill>
              </a:rPr>
              <a:t>Audit logs → AWS CloudWatch (90-day retention)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HealthBridge AI  |  Capstone 2026</a:t>
            </a:r>
            <a:endParaRPr lang="en-US" sz="9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280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VALIDATION &amp; ACCURACY DEMONSTRATION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Guardrails &amp; Safety Controls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73152" cy="420624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HIPAA Content Filter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38988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Blocks responses containing unverified PHI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74520"/>
            <a:ext cx="73152" cy="420624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7452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Medical Accuracy Check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8745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Drug dosage answers verified against FDA API in real-time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59152"/>
            <a:ext cx="73152" cy="420624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Hallucination Guard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3591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Answers lacking source citations are flagged/withheld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4378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43784"/>
            <a:ext cx="73152" cy="420624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437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Escalation Trigger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8437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Detects urgency keywords → routes to on-call staff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32841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28416"/>
            <a:ext cx="73152" cy="420624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2841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</a:rPr>
              <a:t>Out-of-Scope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32841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</a:rPr>
              <a:t>Redirects non-medical queries gracefully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</a:rPr>
              <a:t>Accuracy Validation Methods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1353312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353312"/>
            <a:ext cx="502920" cy="77724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35331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578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</a:rPr>
              <a:t>A/B Accuracy Testing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57800" y="16459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D"/>
                </a:solidFill>
              </a:rPr>
              <a:t>500-question benchmark test comparing Clara responses against verified clinical staff answers. Target: ≥92% accuracy.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20370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203704"/>
            <a:ext cx="502920" cy="77724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2037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2221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</a:rPr>
              <a:t>Source Citation Audit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57800" y="249631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D"/>
                </a:solidFill>
              </a:rPr>
              <a:t>Every response must cite a retrieved source. 100% cite-rate enforced — uncited responses are auto-suppressed.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5409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054096"/>
            <a:ext cx="502920" cy="77724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05409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57800" y="30723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</a:rPr>
              <a:t>User Feedback Loop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57800" y="334670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D"/>
                </a:solidFill>
              </a:rPr>
              <a:t>Thumbs up/down per response. Low-rated answers trigger weekly human review and vector DB update.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90448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904488"/>
            <a:ext cx="502920" cy="777240"/>
          </a:xfrm>
          <a:prstGeom prst="rect">
            <a:avLst/>
          </a:prstGeom>
          <a:solidFill>
            <a:srgbClr val="6B2D5E"/>
          </a:solidFill>
          <a:ln w="12700">
            <a:solidFill>
              <a:srgbClr val="6B2D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90448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57800" y="3922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</a:rPr>
              <a:t>Monthly Red-Team Review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57800" y="419709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A8D"/>
                </a:solidFill>
              </a:rPr>
              <a:t>Clinical team submits adversarial edge-case questions monthly; failures feed retraining pipeline.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HealthBridge AI  |  Capstone 2026</a:t>
            </a:r>
            <a:endParaRPr lang="en-US" sz="9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4828032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743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743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77724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77724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77724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77724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8016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8016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28016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128016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78308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178308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178308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178308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8600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28600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28600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228600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7889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7889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27889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2788920"/>
            <a:ext cx="64008" cy="64008"/>
          </a:xfrm>
          <a:prstGeom prst="ellipse">
            <a:avLst/>
          </a:prstGeom>
          <a:solidFill>
            <a:srgbClr val="8B3A70">
              <a:alpha val="30000"/>
            </a:srgbClr>
          </a:solidFill>
          <a:ln w="12700">
            <a:solidFill>
              <a:srgbClr val="8B3A70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960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1828800" y="1965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HealthBridge AI — Clara Chatbot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828800" y="2578608"/>
            <a:ext cx="4572000" cy="45720"/>
          </a:xfrm>
          <a:prstGeom prst="rect">
            <a:avLst/>
          </a:prstGeom>
          <a:solidFill>
            <a:srgbClr val="8B3A70"/>
          </a:solidFill>
          <a:ln w="12700">
            <a:solidFill>
              <a:srgbClr val="8B3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27889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DDD5E0"/>
                </a:solidFill>
              </a:rPr>
              <a:t>RAG-powered chatbot delivering 24/7 accurate patient support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28800" y="31912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DDD5E0"/>
                </a:solidFill>
              </a:rPr>
              <a:t>Integrated with EHR, policy docs, and live medical APIs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828800" y="35935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DDD5E0"/>
                </a:solidFill>
              </a:rPr>
              <a:t>HIPAA-compliant architecture with full audit trail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28800" y="39959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7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DDD5E0"/>
                </a:solidFill>
              </a:rPr>
              <a:t>Validated by clinical red-team + automated accuracy checks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828800" y="45720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HealthBridge AI Chatbot – Capstone Presentation</dc:title>
  <dc:subject>PptxGenJS Presentation</dc:subject>
  <dc:creator>PptxGenJS</dc:creator>
  <cp:lastModifiedBy>PptxGenJS</cp:lastModifiedBy>
  <cp:revision>1</cp:revision>
  <dcterms:created xsi:type="dcterms:W3CDTF">2026-04-12T11:57:13Z</dcterms:created>
  <dcterms:modified xsi:type="dcterms:W3CDTF">2026-04-12T11:57:13Z</dcterms:modified>
</cp:coreProperties>
</file>