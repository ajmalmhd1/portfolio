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Wait</c:v>
                </c:pt>
              </c:strCache>
            </c:strRef>
          </c:tx>
          <c:spPr>
            <a:solidFill>
              <a:srgbClr val="C851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E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10</c:v>
                </c:pt>
                <c:pt idx="2">
                  <c:v>12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1E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Blink Assist</c:v>
                </c:pt>
              </c:strCache>
            </c:strRef>
          </c:tx>
          <c:spPr>
            <a:solidFill>
              <a:srgbClr val="CCBB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13000</c:v>
                </c:pt>
                <c:pt idx="1">
                  <c:v>14200</c:v>
                </c:pt>
                <c:pt idx="2">
                  <c:v>13500</c:v>
                </c:pt>
                <c:pt idx="3">
                  <c:v>15000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Blink Assist</c:v>
                </c:pt>
              </c:strCache>
            </c:strRef>
          </c:tx>
          <c:spPr>
            <a:solidFill>
              <a:srgbClr val="C851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5200</c:v>
                </c:pt>
                <c:pt idx="1">
                  <c:v>5400</c:v>
                </c:pt>
                <c:pt idx="2">
                  <c:v>5100</c:v>
                </c:pt>
                <c:pt idx="3">
                  <c:v>4900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0"/>
            <a:ext cx="4069080" cy="514350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0" y="0"/>
            <a:ext cx="256032" cy="514350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511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005840"/>
            <a:ext cx="3657600" cy="11155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097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Blink Assist AI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47472" y="1700784"/>
            <a:ext cx="3657600" cy="50292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" y="182880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6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Passenger Support Chatbot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7472" y="23774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A Generative AI Solution with Real-Time Data Retrieval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Capstone Project — Generative AI in Aviation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Confidential  |  Generative AI Capstone  |  2026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Confidential  |  Generative AI Capstone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3152"/>
            <a:ext cx="1645920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E06030"/>
                </a:solidFill>
              </a:rPr>
              <a:t>REAL-WORLD GENERATIVE AI USE CASE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920240" y="384048"/>
            <a:ext cx="7040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Blink Assist — Passenger Chatbot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960120"/>
            <a:ext cx="4023360" cy="530352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0392" y="10332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Blink Assist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50392" y="12344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</a:rPr>
              <a:t>Always online · AI-powered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4123944" y="1143000"/>
            <a:ext cx="109728" cy="109728"/>
          </a:xfrm>
          <a:prstGeom prst="oval">
            <a:avLst/>
          </a:prstGeom>
          <a:solidFill>
            <a:srgbClr val="4ADE80"/>
          </a:solidFill>
          <a:ln/>
        </p:spPr>
      </p:sp>
      <p:sp>
        <p:nvSpPr>
          <p:cNvPr id="12" name="Shape 8"/>
          <p:cNvSpPr/>
          <p:nvPr/>
        </p:nvSpPr>
        <p:spPr>
          <a:xfrm>
            <a:off x="1581912" y="1636776"/>
            <a:ext cx="2651760" cy="329184"/>
          </a:xfrm>
          <a:prstGeom prst="rect">
            <a:avLst/>
          </a:prstGeom>
          <a:solidFill>
            <a:srgbClr val="1E1E1E"/>
          </a:solidFill>
          <a:ln w="6350">
            <a:solidFill>
              <a:srgbClr val="C8511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673352" y="1655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Is flight BL 447 on time?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29768" y="2057400"/>
            <a:ext cx="2651760" cy="329184"/>
          </a:xfrm>
          <a:prstGeom prst="rect">
            <a:avLst/>
          </a:prstGeom>
          <a:solidFill>
            <a:srgbClr val="F7F2EE"/>
          </a:solidFill>
          <a:ln w="6350">
            <a:solidFill>
              <a:srgbClr val="EDE0D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21208" y="2075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BL 447 delayed 45 min. New departure: 11:00 PM, Gate B22.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1581912" y="2569464"/>
            <a:ext cx="2651760" cy="329184"/>
          </a:xfrm>
          <a:prstGeom prst="rect">
            <a:avLst/>
          </a:prstGeom>
          <a:solidFill>
            <a:srgbClr val="1E1E1E"/>
          </a:solidFill>
          <a:ln w="6350">
            <a:solidFill>
              <a:srgbClr val="C8511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673352" y="25877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Can I rebook to an earlier flight?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29768" y="2990088"/>
            <a:ext cx="2651760" cy="329184"/>
          </a:xfrm>
          <a:prstGeom prst="rect">
            <a:avLst/>
          </a:prstGeom>
          <a:solidFill>
            <a:srgbClr val="F7F2EE"/>
          </a:solidFill>
          <a:ln w="6350">
            <a:solidFill>
              <a:srgbClr val="EDE0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1208" y="30083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Yes! BL 441 departs at 8:30 PM with seats. Shall I rebook you?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1581912" y="3648456"/>
            <a:ext cx="2651760" cy="329184"/>
          </a:xfrm>
          <a:prstGeom prst="rect">
            <a:avLst/>
          </a:prstGeom>
          <a:solidFill>
            <a:srgbClr val="1E1E1E"/>
          </a:solidFill>
          <a:ln w="6350">
            <a:solidFill>
              <a:srgbClr val="C8511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673352" y="3666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Yes please!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29768" y="3977640"/>
            <a:ext cx="2651760" cy="329184"/>
          </a:xfrm>
          <a:prstGeom prst="rect">
            <a:avLst/>
          </a:prstGeom>
          <a:solidFill>
            <a:srgbClr val="F7F2EE"/>
          </a:solidFill>
          <a:ln w="6350">
            <a:solidFill>
              <a:srgbClr val="EDE0D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1208" y="39959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Done! Confirmation sent to your email.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663440" y="960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9E9E"/>
                </a:solidFill>
              </a:rPr>
              <a:t>Company: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98932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Blink Airways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663440" y="1307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Blink Assist</a:t>
            </a:r>
            <a:endParaRPr lang="en-US" sz="2400" dirty="0"/>
          </a:p>
        </p:txBody>
      </p:sp>
      <p:sp>
        <p:nvSpPr>
          <p:cNvPr id="27" name="Shape 23"/>
          <p:cNvSpPr/>
          <p:nvPr/>
        </p:nvSpPr>
        <p:spPr>
          <a:xfrm>
            <a:off x="4663440" y="1801368"/>
            <a:ext cx="4114800" cy="50292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28" name="Text 24"/>
          <p:cNvSpPr/>
          <p:nvPr/>
        </p:nvSpPr>
        <p:spPr>
          <a:xfrm>
            <a:off x="4663440" y="19202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An intelligent passenger support chatbot integrated into Blink Airways' mobile app and web portal. Blink Assist uses real-time data retrieval to provide accurate, immediate flight information.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663440" y="2953512"/>
            <a:ext cx="1938528" cy="384048"/>
          </a:xfrm>
          <a:prstGeom prst="rect">
            <a:avLst/>
          </a:prstGeom>
          <a:solidFill>
            <a:srgbClr val="F5DDD0"/>
          </a:solidFill>
          <a:ln w="6350">
            <a:solidFill>
              <a:srgbClr val="C8511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54880" y="295351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511B"/>
                </a:solidFill>
              </a:rPr>
              <a:t>✓  Flight status &amp; delays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766560" y="2953512"/>
            <a:ext cx="1938528" cy="384048"/>
          </a:xfrm>
          <a:prstGeom prst="rect">
            <a:avLst/>
          </a:prstGeom>
          <a:solidFill>
            <a:srgbClr val="F5DDD0"/>
          </a:solidFill>
          <a:ln w="6350">
            <a:solidFill>
              <a:srgbClr val="C8511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58000" y="295351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511B"/>
                </a:solidFill>
              </a:rPr>
              <a:t>✓  Booking &amp; rebooking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663440" y="3465576"/>
            <a:ext cx="1938528" cy="384048"/>
          </a:xfrm>
          <a:prstGeom prst="rect">
            <a:avLst/>
          </a:prstGeom>
          <a:solidFill>
            <a:srgbClr val="F5DDD0"/>
          </a:solidFill>
          <a:ln w="6350">
            <a:solidFill>
              <a:srgbClr val="C8511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754880" y="346557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511B"/>
                </a:solidFill>
              </a:rPr>
              <a:t>✓  Baggage policies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766560" y="3465576"/>
            <a:ext cx="1938528" cy="384048"/>
          </a:xfrm>
          <a:prstGeom prst="rect">
            <a:avLst/>
          </a:prstGeom>
          <a:solidFill>
            <a:srgbClr val="F5DDD0"/>
          </a:solidFill>
          <a:ln w="6350">
            <a:solidFill>
              <a:srgbClr val="C8511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58000" y="346557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511B"/>
                </a:solidFill>
              </a:rPr>
              <a:t>✓  Travel advisories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832604"/>
            <a:ext cx="1463040" cy="283464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69164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Blink Assist AI  ·  Capstone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3152"/>
            <a:ext cx="1645920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E06030"/>
                </a:solidFill>
              </a:rPr>
              <a:t>BUSINESS PROBLEM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920240" y="384048"/>
            <a:ext cx="7040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Blink Airways faces significant operational challenges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" y="896112"/>
            <a:ext cx="1965960" cy="137160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896112"/>
            <a:ext cx="1965960" cy="10972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106070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11480" y="17007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passengers report difficulty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reaching support staff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68880" y="896112"/>
            <a:ext cx="1965960" cy="137160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896112"/>
            <a:ext cx="1965960" cy="109728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12" name="Text 9"/>
          <p:cNvSpPr/>
          <p:nvPr/>
        </p:nvSpPr>
        <p:spPr>
          <a:xfrm>
            <a:off x="2468880" y="106070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5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min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2560320" y="17007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average hold time for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non-urgent inquiries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896112"/>
            <a:ext cx="1965960" cy="137160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896112"/>
            <a:ext cx="1965960" cy="109728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16" name="Text 13"/>
          <p:cNvSpPr/>
          <p:nvPr/>
        </p:nvSpPr>
        <p:spPr>
          <a:xfrm>
            <a:off x="4617720" y="106070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3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4709160" y="17007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of flights see avoidable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customer escalations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66560" y="896112"/>
            <a:ext cx="1965960" cy="137160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66560" y="896112"/>
            <a:ext cx="1965960" cy="109728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20" name="Text 17"/>
          <p:cNvSpPr/>
          <p:nvPr/>
        </p:nvSpPr>
        <p:spPr>
          <a:xfrm>
            <a:off x="6766560" y="106070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$3.1M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6858000" y="17007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annual cost of inbound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passenger support calls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0040" y="2423160"/>
            <a:ext cx="4114800" cy="214884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11480" y="24871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Passenger Wait Time (min)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20040" y="2706624"/>
          <a:ext cx="4114800" cy="18105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 21"/>
          <p:cNvSpPr/>
          <p:nvPr/>
        </p:nvSpPr>
        <p:spPr>
          <a:xfrm>
            <a:off x="4709160" y="2441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Key Pain Points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709160" y="2898648"/>
            <a:ext cx="182880" cy="18288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27" name="Text 23"/>
          <p:cNvSpPr/>
          <p:nvPr/>
        </p:nvSpPr>
        <p:spPr>
          <a:xfrm>
            <a:off x="4992624" y="280720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No 24/7 self-service option for non-urgent passenger queries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09160" y="3419856"/>
            <a:ext cx="182880" cy="18288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29" name="Text 25"/>
          <p:cNvSpPr/>
          <p:nvPr/>
        </p:nvSpPr>
        <p:spPr>
          <a:xfrm>
            <a:off x="4992624" y="332841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Staff overwhelmed by repetitive inquiries — delays, gates, baggage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709160" y="3941064"/>
            <a:ext cx="182880" cy="18288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31" name="Text 27"/>
          <p:cNvSpPr/>
          <p:nvPr/>
        </p:nvSpPr>
        <p:spPr>
          <a:xfrm>
            <a:off x="4992624" y="384962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Inconsistent info during disruptions, damaging brand trust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09160" y="4462272"/>
            <a:ext cx="182880" cy="18288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33" name="Text 29"/>
          <p:cNvSpPr/>
          <p:nvPr/>
        </p:nvSpPr>
        <p:spPr>
          <a:xfrm>
            <a:off x="4992624" y="43708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Passenger satisfaction (NPS) declining year-over-year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832604"/>
            <a:ext cx="1463040" cy="28346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69164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Blink Assist AI  ·  Capstone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3152"/>
            <a:ext cx="1645920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E06030"/>
                </a:solidFill>
              </a:rPr>
              <a:t>AI SOLUTION — REAL-TIME DATA RETRIEVAL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920240" y="384048"/>
            <a:ext cx="7040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How Blink Assist Works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" y="896112"/>
            <a:ext cx="1965960" cy="1719072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78408" y="1078992"/>
            <a:ext cx="658368" cy="658368"/>
          </a:xfrm>
          <a:prstGeom prst="oval">
            <a:avLst/>
          </a:prstGeom>
          <a:solidFill>
            <a:srgbClr val="1E1E1E"/>
          </a:solidFill>
          <a:ln/>
        </p:spPr>
      </p:sp>
      <p:sp>
        <p:nvSpPr>
          <p:cNvPr id="8" name="Text 5"/>
          <p:cNvSpPr/>
          <p:nvPr/>
        </p:nvSpPr>
        <p:spPr>
          <a:xfrm>
            <a:off x="978408" y="1078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11480" y="1828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Passenger Query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1305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</a:rPr>
              <a:t>Passenger types a question in the app or portal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313432" y="1463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511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468880" y="896112"/>
            <a:ext cx="1965960" cy="1719072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27248" y="1078992"/>
            <a:ext cx="658368" cy="658368"/>
          </a:xfrm>
          <a:prstGeom prst="oval">
            <a:avLst/>
          </a:prstGeom>
          <a:solidFill>
            <a:srgbClr val="C8511B"/>
          </a:solidFill>
          <a:ln/>
        </p:spPr>
      </p:sp>
      <p:sp>
        <p:nvSpPr>
          <p:cNvPr id="14" name="Text 11"/>
          <p:cNvSpPr/>
          <p:nvPr/>
        </p:nvSpPr>
        <p:spPr>
          <a:xfrm>
            <a:off x="3127248" y="1078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560320" y="1828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Data Retrieval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560320" y="21305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</a:rPr>
              <a:t>Fetches live data from airline APIs &amp; web sources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462272" y="1463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511B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617720" y="896112"/>
            <a:ext cx="1965960" cy="1719072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276088" y="1078992"/>
            <a:ext cx="658368" cy="658368"/>
          </a:xfrm>
          <a:prstGeom prst="oval">
            <a:avLst/>
          </a:prstGeom>
          <a:solidFill>
            <a:srgbClr val="484848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088" y="1078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709160" y="1828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Augmentation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09160" y="21305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</a:rPr>
              <a:t>Retrieved context is injected into the LLM prompt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611112" y="1463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511B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766560" y="896112"/>
            <a:ext cx="1965960" cy="1719072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424928" y="1078992"/>
            <a:ext cx="658368" cy="658368"/>
          </a:xfrm>
          <a:prstGeom prst="oval">
            <a:avLst/>
          </a:prstGeom>
          <a:solidFill>
            <a:srgbClr val="7C2D12"/>
          </a:solidFill>
          <a:ln/>
        </p:spPr>
      </p:sp>
      <p:sp>
        <p:nvSpPr>
          <p:cNvPr id="26" name="Text 23"/>
          <p:cNvSpPr/>
          <p:nvPr/>
        </p:nvSpPr>
        <p:spPr>
          <a:xfrm>
            <a:off x="7424928" y="1078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858000" y="1828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Generation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858000" y="21305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</a:rPr>
              <a:t>Claude generates an accurate, policy-compliant answer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2004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Key Technical Features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20040" y="3127248"/>
            <a:ext cx="64008" cy="329184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31" name="Text 28"/>
          <p:cNvSpPr/>
          <p:nvPr/>
        </p:nvSpPr>
        <p:spPr>
          <a:xfrm>
            <a:off x="475488" y="31272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Live airline API retrieval — flight ops, gate data, weather alerts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20040" y="3630168"/>
            <a:ext cx="64008" cy="329184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33" name="Text 30"/>
          <p:cNvSpPr/>
          <p:nvPr/>
        </p:nvSpPr>
        <p:spPr>
          <a:xfrm>
            <a:off x="475488" y="3630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Semantic search — vector DB for fast policy &amp; FAQ retrieval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20040" y="4133088"/>
            <a:ext cx="64008" cy="329184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35" name="Text 32"/>
          <p:cNvSpPr/>
          <p:nvPr/>
        </p:nvSpPr>
        <p:spPr>
          <a:xfrm>
            <a:off x="475488" y="41330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Context-aware responses — conversation history per session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754880" y="3127248"/>
            <a:ext cx="64008" cy="329184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37" name="Text 34"/>
          <p:cNvSpPr/>
          <p:nvPr/>
        </p:nvSpPr>
        <p:spPr>
          <a:xfrm>
            <a:off x="4910328" y="31272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Guardrails engine — responses verified against airline policy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754880" y="3630168"/>
            <a:ext cx="64008" cy="329184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39" name="Text 36"/>
          <p:cNvSpPr/>
          <p:nvPr/>
        </p:nvSpPr>
        <p:spPr>
          <a:xfrm>
            <a:off x="4910328" y="3630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Escalation path — complex issues routed to live agents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754880" y="4133088"/>
            <a:ext cx="64008" cy="329184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41" name="Text 38"/>
          <p:cNvSpPr/>
          <p:nvPr/>
        </p:nvSpPr>
        <p:spPr>
          <a:xfrm>
            <a:off x="4910328" y="41330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Audit logging — full session history for QA &amp; compliance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32604"/>
            <a:ext cx="1463040" cy="283464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169164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Blink Assist AI  ·  Capstone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3152"/>
            <a:ext cx="1645920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E06030"/>
                </a:solidFill>
              </a:rPr>
              <a:t>PRODUCT INTEGRATION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920240" y="384048"/>
            <a:ext cx="7040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Where Blink Assist Lives in the Blink Airways Ecosystem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" y="896112"/>
            <a:ext cx="4206240" cy="1719072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896112"/>
            <a:ext cx="118872" cy="1719072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8" name="Text 5"/>
          <p:cNvSpPr/>
          <p:nvPr/>
        </p:nvSpPr>
        <p:spPr>
          <a:xfrm>
            <a:off x="521208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28016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Passenger Portal (Web)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1481328"/>
            <a:ext cx="3108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Embedded chat widget on fly.blinkairways.com — accessible post-login with full booking context and live flight data.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896112"/>
            <a:ext cx="4206240" cy="1719072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896112"/>
            <a:ext cx="118872" cy="1719072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13" name="Text 10"/>
          <p:cNvSpPr/>
          <p:nvPr/>
        </p:nvSpPr>
        <p:spPr>
          <a:xfrm>
            <a:off x="4956048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71500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Mobile App (iOS/Android)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715000" y="1481328"/>
            <a:ext cx="3108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Native SDK integration in Blink mobile app. Push notifications for delays + in-app chat with real-time updates.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2770632"/>
            <a:ext cx="4206240" cy="1719072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2770632"/>
            <a:ext cx="118872" cy="1719072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280160" y="2971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Disruption Alert Emails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80160" y="3355848"/>
            <a:ext cx="3108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Blink Assist generates personalised delay and cancellation emails triggered by ops system events.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2770632"/>
            <a:ext cx="4206240" cy="1719072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2770632"/>
            <a:ext cx="118872" cy="1719072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23" name="Text 20"/>
          <p:cNvSpPr/>
          <p:nvPr/>
        </p:nvSpPr>
        <p:spPr>
          <a:xfrm>
            <a:off x="4956048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🎧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5715000" y="2971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Agent Handoff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715000" y="3355848"/>
            <a:ext cx="3108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Escalation path: Blink Assist flags complex queries to live agents via secure messaging queue.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4590288"/>
            <a:ext cx="9144000" cy="256032"/>
          </a:xfrm>
          <a:prstGeom prst="rect">
            <a:avLst/>
          </a:prstGeom>
          <a:solidFill>
            <a:srgbClr val="F5DDD0"/>
          </a:solidFill>
          <a:ln/>
        </p:spPr>
      </p:sp>
      <p:sp>
        <p:nvSpPr>
          <p:cNvPr id="27" name="Text 24"/>
          <p:cNvSpPr/>
          <p:nvPr/>
        </p:nvSpPr>
        <p:spPr>
          <a:xfrm>
            <a:off x="274320" y="45902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511B"/>
                </a:solidFill>
              </a:rPr>
              <a:t>Tech Stack:  React / React Native  |  FastAPI Backend  |  Pinecone Vector DB  |  Anthropic Claude  |  AWS Services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32604"/>
            <a:ext cx="1463040" cy="28346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69164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Blink Assist AI  ·  Capstone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3152"/>
            <a:ext cx="1645920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E06030"/>
                </a:solidFill>
              </a:rPr>
              <a:t>VALUE ADD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920240" y="384048"/>
            <a:ext cx="7040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Measurable Impact of Blink Assist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" y="896112"/>
            <a:ext cx="1965960" cy="1298448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896112"/>
            <a:ext cx="196596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10332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60%↓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11480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Reduction in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call center volume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68880" y="896112"/>
            <a:ext cx="1965960" cy="1298448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896112"/>
            <a:ext cx="1965960" cy="9144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12" name="Text 9"/>
          <p:cNvSpPr/>
          <p:nvPr/>
        </p:nvSpPr>
        <p:spPr>
          <a:xfrm>
            <a:off x="2468880" y="10332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5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560320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Passenger support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availability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896112"/>
            <a:ext cx="1965960" cy="1298448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896112"/>
            <a:ext cx="1965960" cy="9144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16" name="Text 13"/>
          <p:cNvSpPr/>
          <p:nvPr/>
        </p:nvSpPr>
        <p:spPr>
          <a:xfrm>
            <a:off x="4617720" y="10332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3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4.6★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709160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Projected NPS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satisfaction score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66560" y="896112"/>
            <a:ext cx="1965960" cy="1298448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66560" y="896112"/>
            <a:ext cx="1965960" cy="9144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20" name="Text 17"/>
          <p:cNvSpPr/>
          <p:nvPr/>
        </p:nvSpPr>
        <p:spPr>
          <a:xfrm>
            <a:off x="6766560" y="10332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$1.8M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858000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Estimated annual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cost savings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0040" y="2331720"/>
            <a:ext cx="4114800" cy="224028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11480" y="2395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Projected Call Volume Reduction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20040" y="2633472"/>
          <a:ext cx="41148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 21"/>
          <p:cNvSpPr/>
          <p:nvPr/>
        </p:nvSpPr>
        <p:spPr>
          <a:xfrm>
            <a:off x="4709160" y="2350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Strategic Benefits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709160" y="2807208"/>
            <a:ext cx="182880" cy="18288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27" name="Text 23"/>
          <p:cNvSpPr/>
          <p:nvPr/>
        </p:nvSpPr>
        <p:spPr>
          <a:xfrm>
            <a:off x="4992624" y="27157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Eliminates repetitive staff workload — freeing agents for complex queries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09160" y="3328416"/>
            <a:ext cx="182880" cy="18288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29" name="Text 25"/>
          <p:cNvSpPr/>
          <p:nvPr/>
        </p:nvSpPr>
        <p:spPr>
          <a:xfrm>
            <a:off x="4992624" y="32369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Instant, consistent answers during disruptions protect brand trust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709160" y="3849624"/>
            <a:ext cx="182880" cy="18288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31" name="Text 27"/>
          <p:cNvSpPr/>
          <p:nvPr/>
        </p:nvSpPr>
        <p:spPr>
          <a:xfrm>
            <a:off x="4992624" y="375818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Scales to 50,000+ concurrent passenger interactions at marginal cost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09160" y="4370832"/>
            <a:ext cx="182880" cy="18288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33" name="Text 29"/>
          <p:cNvSpPr/>
          <p:nvPr/>
        </p:nvSpPr>
        <p:spPr>
          <a:xfrm>
            <a:off x="4992624" y="42793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Data collected improves ops insights and future AI model accuracy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832604"/>
            <a:ext cx="1463040" cy="28346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69164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Blink Assist AI  ·  Capstone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3152"/>
            <a:ext cx="1645920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E06030"/>
                </a:solidFill>
              </a:rPr>
              <a:t>DATA DETAILS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920240" y="384048"/>
            <a:ext cx="7040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Architecture &amp; Quality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" y="896112"/>
            <a:ext cx="4206240" cy="1801368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896112"/>
            <a:ext cx="4206240" cy="3657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9509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Sources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3533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Airline Ops API — live flight status, gates, delays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16824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GDS / booking systems — reservations, seat maps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2011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IATA &amp; government APIs — travel advisories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23408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Real-time web search — policy updates, weather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0" y="896112"/>
            <a:ext cx="4206240" cy="1801368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896112"/>
            <a:ext cx="4206240" cy="36576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15" name="Text 12"/>
          <p:cNvSpPr/>
          <p:nvPr/>
        </p:nvSpPr>
        <p:spPr>
          <a:xfrm>
            <a:off x="4892040" y="9509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Quality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92040" y="13533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Ops data: IATA-standard structured feeds, high reliability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92040" y="16824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Policy docs: reviewed quarterly by compliance team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92040" y="2011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External APIs: aviation authority sources only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92040" y="23408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Web search: filtered by domain whitelist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2816352"/>
            <a:ext cx="4206240" cy="1801368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" y="2816352"/>
            <a:ext cx="4206240" cy="36576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28712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32735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Text extraction from PDF policy documents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36027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PHI / PII anonymization for non-personalised queries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Chunking (512 tokens) + overlap for vector embedding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7200" y="42611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Metadata tagging: source, date, sensitivity level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754880" y="2816352"/>
            <a:ext cx="4206240" cy="1801368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2816352"/>
            <a:ext cx="4206240" cy="36576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29" name="Text 26"/>
          <p:cNvSpPr/>
          <p:nvPr/>
        </p:nvSpPr>
        <p:spPr>
          <a:xfrm>
            <a:off x="4892040" y="28712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Storage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92040" y="32735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Vector embeddings → Pinecone (GDPR-compliant region)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892040" y="36027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Session context → Redis (encrypted, TTL 30 min)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9204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Source documents → AWS S3 server-side encryption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892040" y="42611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▸  Audit logs → AWS CloudWatch (90-day retention)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32604"/>
            <a:ext cx="1463040" cy="28346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69164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Blink Assist AI  ·  Capstone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3152"/>
            <a:ext cx="1645920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E06030"/>
                </a:solidFill>
              </a:rPr>
              <a:t>VALIDATION &amp; ACCURACY DEMONSTRATION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920240" y="384048"/>
            <a:ext cx="7040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Guardrails, Safety Controls &amp; Accuracy Validation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20040" y="896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Guardrails &amp; Safety Controls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234440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234440"/>
            <a:ext cx="91440" cy="59436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261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Policy Content Filter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Blocks responses that contradict verified airline policy documents.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" y="1920240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920240"/>
            <a:ext cx="91440" cy="59436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1947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Accuracy Check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2167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Flight data answers verified against live ops API in real-time.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040" y="2606040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2606040"/>
            <a:ext cx="91440" cy="59436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2633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Hallucination Guard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" y="2852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Answers lacking source citations are flagged and withheld.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20040" y="3291840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" y="3291840"/>
            <a:ext cx="91440" cy="59436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33192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Escalation Trigger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2920" y="3538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Detects urgency keywords → routes to on-call live agents.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3977640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0040" y="3977640"/>
            <a:ext cx="91440" cy="59436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4005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Out-of-Scope Detection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Redirects non-travel queries to appropriate channels gracefully.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709160" y="896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Accuracy Validation Methods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09160" y="1234440"/>
            <a:ext cx="411480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36592" y="1307592"/>
            <a:ext cx="420624" cy="420624"/>
          </a:xfrm>
          <a:prstGeom prst="oval">
            <a:avLst/>
          </a:prstGeom>
          <a:solidFill>
            <a:srgbClr val="1E1E1E"/>
          </a:solidFill>
          <a:ln/>
        </p:spPr>
      </p:sp>
      <p:sp>
        <p:nvSpPr>
          <p:cNvPr id="30" name="Text 27"/>
          <p:cNvSpPr/>
          <p:nvPr/>
        </p:nvSpPr>
        <p:spPr>
          <a:xfrm>
            <a:off x="4736592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511B"/>
                </a:solidFill>
              </a:rPr>
              <a:t>01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266944" y="13075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A/B Accuracy Testing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266944" y="156362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500-question benchmark comparing Blink Assist responses against ops team answers. Target: ≥92% accuracy.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709160" y="2103120"/>
            <a:ext cx="411480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736592" y="2176272"/>
            <a:ext cx="420624" cy="420624"/>
          </a:xfrm>
          <a:prstGeom prst="oval">
            <a:avLst/>
          </a:prstGeom>
          <a:solidFill>
            <a:srgbClr val="1E1E1E"/>
          </a:solidFill>
          <a:ln/>
        </p:spPr>
      </p:sp>
      <p:sp>
        <p:nvSpPr>
          <p:cNvPr id="35" name="Text 32"/>
          <p:cNvSpPr/>
          <p:nvPr/>
        </p:nvSpPr>
        <p:spPr>
          <a:xfrm>
            <a:off x="4736592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511B"/>
                </a:solidFill>
              </a:rPr>
              <a:t>02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266944" y="217627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Source Citation Audit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266944" y="243230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Every response must cite a retrieved source. 100% cite-rate enforced — uncited responses auto-suppressed.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709160" y="2971800"/>
            <a:ext cx="411480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736592" y="3044952"/>
            <a:ext cx="420624" cy="420624"/>
          </a:xfrm>
          <a:prstGeom prst="oval">
            <a:avLst/>
          </a:prstGeom>
          <a:solidFill>
            <a:srgbClr val="1E1E1E"/>
          </a:solidFill>
          <a:ln/>
        </p:spPr>
      </p:sp>
      <p:sp>
        <p:nvSpPr>
          <p:cNvPr id="40" name="Text 37"/>
          <p:cNvSpPr/>
          <p:nvPr/>
        </p:nvSpPr>
        <p:spPr>
          <a:xfrm>
            <a:off x="4736592" y="3044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511B"/>
                </a:solidFill>
              </a:rPr>
              <a:t>03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266944" y="304495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Passenger Feedback Loop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266944" y="33009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Thumbs up/down per response. Low-rated answers trigger weekly human review and vector DB update.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709160" y="3840480"/>
            <a:ext cx="411480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736592" y="3913632"/>
            <a:ext cx="420624" cy="420624"/>
          </a:xfrm>
          <a:prstGeom prst="oval">
            <a:avLst/>
          </a:prstGeom>
          <a:solidFill>
            <a:srgbClr val="1E1E1E"/>
          </a:solidFill>
          <a:ln/>
        </p:spPr>
      </p:sp>
      <p:sp>
        <p:nvSpPr>
          <p:cNvPr id="45" name="Text 42"/>
          <p:cNvSpPr/>
          <p:nvPr/>
        </p:nvSpPr>
        <p:spPr>
          <a:xfrm>
            <a:off x="4736592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511B"/>
                </a:solidFill>
              </a:rPr>
              <a:t>04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266944" y="39136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Monthly Red-Team Review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266944" y="416966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</a:rPr>
              <a:t>Ops team submits adversarial edge-case questions monthly; failures feed retraining pipeline.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32604"/>
            <a:ext cx="1463040" cy="283464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169164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Blink Assist AI  ·  Capstone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3152"/>
            <a:ext cx="1645920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50" kern="0" dirty="0">
                <a:solidFill>
                  <a:srgbClr val="E06030"/>
                </a:solidFill>
              </a:rPr>
              <a:t>AI COMPLIANCE FRAMEWORK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920240" y="384048"/>
            <a:ext cx="7040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Aviation AI Compliance: Explainability, Traceability &amp; Human Oversight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" y="932688"/>
            <a:ext cx="8503920" cy="411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326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DE0D4"/>
                </a:solidFill>
              </a:rPr>
              <a:t>Blink Assist is governed by a multi-layered compliance stack spanning aerospace safety standards, data protection law, and emerging AI-specific regulation.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444752"/>
            <a:ext cx="2761488" cy="3127248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444752"/>
            <a:ext cx="2761488" cy="475488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" y="149961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Explainability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" y="2011680"/>
            <a:ext cx="2487168" cy="237744"/>
          </a:xfrm>
          <a:prstGeom prst="rect">
            <a:avLst/>
          </a:prstGeom>
          <a:solidFill>
            <a:srgbClr val="F5DDD0"/>
          </a:solidFill>
          <a:ln w="5080">
            <a:solidFill>
              <a:srgbClr val="C851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" y="2011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511B"/>
                </a:solidFill>
              </a:rPr>
              <a:t>EASA AI Roadmap 2.0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9768" y="2313432"/>
            <a:ext cx="2487168" cy="237744"/>
          </a:xfrm>
          <a:prstGeom prst="rect">
            <a:avLst/>
          </a:prstGeom>
          <a:solidFill>
            <a:srgbClr val="F5DDD0"/>
          </a:solidFill>
          <a:ln w="5080">
            <a:solidFill>
              <a:srgbClr val="C8511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" y="2313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511B"/>
                </a:solidFill>
              </a:rPr>
              <a:t>EU AI Act (High-Risk)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29768" y="2615184"/>
            <a:ext cx="2487168" cy="237744"/>
          </a:xfrm>
          <a:prstGeom prst="rect">
            <a:avLst/>
          </a:prstGeom>
          <a:solidFill>
            <a:srgbClr val="F5DDD0"/>
          </a:solidFill>
          <a:ln w="5080">
            <a:solidFill>
              <a:srgbClr val="C8511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" y="26151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511B"/>
                </a:solidFill>
              </a:rPr>
              <a:t>ICAO AI Guidance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29768" y="2971800"/>
            <a:ext cx="54864" cy="256032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18" name="Text 15"/>
          <p:cNvSpPr/>
          <p:nvPr/>
        </p:nvSpPr>
        <p:spPr>
          <a:xfrm>
            <a:off x="539496" y="293522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</a:rPr>
              <a:t>Every Blink Assist response cites a verifiable source from live ops API or policy doc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29768" y="3364992"/>
            <a:ext cx="54864" cy="256032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20" name="Text 17"/>
          <p:cNvSpPr/>
          <p:nvPr/>
        </p:nvSpPr>
        <p:spPr>
          <a:xfrm>
            <a:off x="539496" y="332841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</a:rPr>
              <a:t>Model reasoning logged and available for post-hoc audit by compliance officers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29768" y="3758184"/>
            <a:ext cx="54864" cy="256032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22" name="Text 19"/>
          <p:cNvSpPr/>
          <p:nvPr/>
        </p:nvSpPr>
        <p:spPr>
          <a:xfrm>
            <a:off x="539496" y="37216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</a:rPr>
              <a:t>Plain-language confidence indicators surfaced to passengers on complex answers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29768" y="4151376"/>
            <a:ext cx="54864" cy="256032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24" name="Text 21"/>
          <p:cNvSpPr/>
          <p:nvPr/>
        </p:nvSpPr>
        <p:spPr>
          <a:xfrm>
            <a:off x="539496" y="4114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</a:rPr>
              <a:t>Black-box outputs blocked — no response issued without a traceable retrieval chain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444752"/>
            <a:ext cx="2761488" cy="3127248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444752"/>
            <a:ext cx="2761488" cy="475488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27" name="Text 24"/>
          <p:cNvSpPr/>
          <p:nvPr/>
        </p:nvSpPr>
        <p:spPr>
          <a:xfrm>
            <a:off x="3282696" y="149961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🗂️  Traceability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282696" y="2011680"/>
            <a:ext cx="2487168" cy="237744"/>
          </a:xfrm>
          <a:prstGeom prst="rect">
            <a:avLst/>
          </a:prstGeom>
          <a:solidFill>
            <a:srgbClr val="F5DDD0"/>
          </a:solidFill>
          <a:ln w="5080">
            <a:solidFill>
              <a:srgbClr val="C8511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37560" y="2011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511B"/>
                </a:solidFill>
              </a:rPr>
              <a:t>DO-178C / DO-330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282696" y="2313432"/>
            <a:ext cx="2487168" cy="237744"/>
          </a:xfrm>
          <a:prstGeom prst="rect">
            <a:avLst/>
          </a:prstGeom>
          <a:solidFill>
            <a:srgbClr val="F5DDD0"/>
          </a:solidFill>
          <a:ln w="5080">
            <a:solidFill>
              <a:srgbClr val="C8511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37560" y="2313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511B"/>
                </a:solidFill>
              </a:rPr>
              <a:t>GDPR Article 22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282696" y="2615184"/>
            <a:ext cx="2487168" cy="237744"/>
          </a:xfrm>
          <a:prstGeom prst="rect">
            <a:avLst/>
          </a:prstGeom>
          <a:solidFill>
            <a:srgbClr val="F5DDD0"/>
          </a:solidFill>
          <a:ln w="5080">
            <a:solidFill>
              <a:srgbClr val="C8511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37560" y="26151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511B"/>
                </a:solidFill>
              </a:rPr>
              <a:t>ISO/IEC 42001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82696" y="2971800"/>
            <a:ext cx="54864" cy="256032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35" name="Text 32"/>
          <p:cNvSpPr/>
          <p:nvPr/>
        </p:nvSpPr>
        <p:spPr>
          <a:xfrm>
            <a:off x="3392424" y="293522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</a:rPr>
              <a:t>Full end-to-end audit trail: query → retrieval → context injection → generation → response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282696" y="3364992"/>
            <a:ext cx="54864" cy="256032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37" name="Text 34"/>
          <p:cNvSpPr/>
          <p:nvPr/>
        </p:nvSpPr>
        <p:spPr>
          <a:xfrm>
            <a:off x="3392424" y="332841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</a:rPr>
              <a:t>Immutable session logs stored in AWS CloudWatch with 90-day retention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82696" y="3758184"/>
            <a:ext cx="54864" cy="256032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39" name="Text 36"/>
          <p:cNvSpPr/>
          <p:nvPr/>
        </p:nvSpPr>
        <p:spPr>
          <a:xfrm>
            <a:off x="3392424" y="37216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</a:rPr>
              <a:t>Data lineage tags on every retrieved chunk: source, timestamp, sensitivity level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282696" y="4151376"/>
            <a:ext cx="54864" cy="256032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41" name="Text 38"/>
          <p:cNvSpPr/>
          <p:nvPr/>
        </p:nvSpPr>
        <p:spPr>
          <a:xfrm>
            <a:off x="3392424" y="4114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</a:rPr>
              <a:t>Version-pinned model deployments — rollback capability within 2 hours if degradation detected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25896" y="1444752"/>
            <a:ext cx="2761488" cy="3127248"/>
          </a:xfrm>
          <a:prstGeom prst="rect">
            <a:avLst/>
          </a:prstGeom>
          <a:solidFill>
            <a:srgbClr val="FFFFFF"/>
          </a:solidFill>
          <a:ln w="5080">
            <a:solidFill>
              <a:srgbClr val="EDE0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025896" y="1444752"/>
            <a:ext cx="2761488" cy="475488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44" name="Text 41"/>
          <p:cNvSpPr/>
          <p:nvPr/>
        </p:nvSpPr>
        <p:spPr>
          <a:xfrm>
            <a:off x="6135624" y="149961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Human-in-the-Loop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6135624" y="2011680"/>
            <a:ext cx="2487168" cy="237744"/>
          </a:xfrm>
          <a:prstGeom prst="rect">
            <a:avLst/>
          </a:prstGeom>
          <a:solidFill>
            <a:srgbClr val="F5DDD0"/>
          </a:solidFill>
          <a:ln w="5080">
            <a:solidFill>
              <a:srgbClr val="C8511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190488" y="2011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511B"/>
                </a:solidFill>
              </a:rPr>
              <a:t>IATA AI Principles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6135624" y="2313432"/>
            <a:ext cx="2487168" cy="237744"/>
          </a:xfrm>
          <a:prstGeom prst="rect">
            <a:avLst/>
          </a:prstGeom>
          <a:solidFill>
            <a:srgbClr val="F5DDD0"/>
          </a:solidFill>
          <a:ln w="5080">
            <a:solidFill>
              <a:srgbClr val="C8511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190488" y="2313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511B"/>
                </a:solidFill>
              </a:rPr>
              <a:t>CAA AI Safety Framework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6135624" y="2615184"/>
            <a:ext cx="2487168" cy="237744"/>
          </a:xfrm>
          <a:prstGeom prst="rect">
            <a:avLst/>
          </a:prstGeom>
          <a:solidFill>
            <a:srgbClr val="F5DDD0"/>
          </a:solidFill>
          <a:ln w="5080">
            <a:solidFill>
              <a:srgbClr val="C8511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190488" y="26151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511B"/>
                </a:solidFill>
              </a:rPr>
              <a:t>Montreal Convention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135624" y="2971800"/>
            <a:ext cx="54864" cy="256032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52" name="Text 49"/>
          <p:cNvSpPr/>
          <p:nvPr/>
        </p:nvSpPr>
        <p:spPr>
          <a:xfrm>
            <a:off x="6245352" y="293522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</a:rPr>
              <a:t>Escalation trigger auto-routes safety-critical or urgent queries to on-call staff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6135624" y="3364992"/>
            <a:ext cx="54864" cy="256032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54" name="Text 51"/>
          <p:cNvSpPr/>
          <p:nvPr/>
        </p:nvSpPr>
        <p:spPr>
          <a:xfrm>
            <a:off x="6245352" y="332841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</a:rPr>
              <a:t>Weekly human review of low-rated and flagged AI responses feeds retraining pipeline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6135624" y="3758184"/>
            <a:ext cx="54864" cy="256032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56" name="Text 53"/>
          <p:cNvSpPr/>
          <p:nvPr/>
        </p:nvSpPr>
        <p:spPr>
          <a:xfrm>
            <a:off x="6245352" y="37216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</a:rPr>
              <a:t>All policy content changes require human compliance sign-off before vector DB update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6135624" y="4151376"/>
            <a:ext cx="54864" cy="256032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58" name="Text 55"/>
          <p:cNvSpPr/>
          <p:nvPr/>
        </p:nvSpPr>
        <p:spPr>
          <a:xfrm>
            <a:off x="6245352" y="4114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1A"/>
                </a:solidFill>
              </a:rPr>
              <a:t>Monthly red-team adversarial testing by ops &amp; safety team — failures block deployment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320040" y="4636008"/>
            <a:ext cx="8503920" cy="201168"/>
          </a:xfrm>
          <a:prstGeom prst="rect">
            <a:avLst/>
          </a:prstGeom>
          <a:solidFill>
            <a:srgbClr val="F5DDD0"/>
          </a:solidFill>
          <a:ln w="5080">
            <a:solidFill>
              <a:srgbClr val="C8511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57200" y="46360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511B"/>
                </a:solidFill>
              </a:rPr>
              <a:t>✈  Safety-critical AI — all outputs subject to airline policy guardrails, live data verification, and mandatory human escalation paths before any operational action is taken.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6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32604"/>
            <a:ext cx="1463040" cy="283464"/>
          </a:xfrm>
          <a:prstGeom prst="rect">
            <a:avLst/>
          </a:prstGeom>
        </p:spPr>
      </p:pic>
      <p:sp>
        <p:nvSpPr>
          <p:cNvPr id="63" name="Text 59"/>
          <p:cNvSpPr/>
          <p:nvPr/>
        </p:nvSpPr>
        <p:spPr>
          <a:xfrm>
            <a:off x="169164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Blink Assist AI  ·  Capstone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0"/>
            <a:ext cx="4069080" cy="514350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0" y="0"/>
            <a:ext cx="256032" cy="514350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511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1463040"/>
            <a:ext cx="3657600" cy="11155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097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47472" y="1700784"/>
            <a:ext cx="3657600" cy="50292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6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Blink Assist AI — Passenger Chatbot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" y="2395728"/>
            <a:ext cx="182880" cy="18288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3500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Real-time data retrieval delivering 24/7 accurate passenger support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871216"/>
            <a:ext cx="182880" cy="18288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254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Integrated with airline ops APIs, policy docs, and live web data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7472" y="3346704"/>
            <a:ext cx="182880" cy="18288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3009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Policy-compliant architecture with full audit trail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" y="3822192"/>
            <a:ext cx="182880" cy="182880"/>
          </a:xfrm>
          <a:prstGeom prst="rect">
            <a:avLst/>
          </a:prstGeom>
          <a:solidFill>
            <a:srgbClr val="C8511B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7764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Validated by red-team testing and automated accuracy checks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7472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511B"/>
                </a:solidFill>
              </a:rPr>
              <a:t>Questions &amp; Discussion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Confidential  |  Generative AI Capstone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 Airways — Blink Assist AI Chatbot</dc:title>
  <dc:subject>PptxGenJS Presentation</dc:subject>
  <dc:creator>PptxGenJS</dc:creator>
  <cp:lastModifiedBy>PptxGenJS</cp:lastModifiedBy>
  <cp:revision>1</cp:revision>
  <dcterms:created xsi:type="dcterms:W3CDTF">2026-04-14T02:20:05Z</dcterms:created>
  <dcterms:modified xsi:type="dcterms:W3CDTF">2026-04-14T02:20:05Z</dcterms:modified>
</cp:coreProperties>
</file>